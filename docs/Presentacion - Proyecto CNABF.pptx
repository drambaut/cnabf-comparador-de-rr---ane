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75" r:id="rId7"/>
    <p:sldId id="272" r:id="rId8"/>
    <p:sldId id="282" r:id="rId9"/>
    <p:sldId id="277" r:id="rId10"/>
    <p:sldId id="283" r:id="rId11"/>
    <p:sldId id="284" r:id="rId12"/>
    <p:sldId id="285" r:id="rId13"/>
    <p:sldId id="286" r:id="rId14"/>
    <p:sldId id="278" r:id="rId15"/>
    <p:sldId id="287" r:id="rId16"/>
    <p:sldId id="279" r:id="rId17"/>
    <p:sldId id="290" r:id="rId18"/>
    <p:sldId id="280" r:id="rId19"/>
    <p:sldId id="259" r:id="rId20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59D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3" autoAdjust="0"/>
    <p:restoredTop sz="94660"/>
  </p:normalViewPr>
  <p:slideViewPr>
    <p:cSldViewPr snapToGrid="0">
      <p:cViewPr varScale="1">
        <p:scale>
          <a:sx n="63" d="100"/>
          <a:sy n="63" d="100"/>
        </p:scale>
        <p:origin x="93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2002F2-AC76-B341-8457-28EE523DDB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6AFC8F9-24B3-41FC-8C19-D288FE9F41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70A59CA-0BD0-84FE-DDCA-BEB82E86C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BC0AF-5221-47F3-9F2C-59C18E972B53}" type="datetimeFigureOut">
              <a:rPr lang="es-CO" smtClean="0"/>
              <a:t>12/03/2026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3BAA47D-9EBD-5AF0-B01E-FA6F2C113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58EEB95-5529-06A0-03AE-33FEB393B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F2D16-C549-4858-A387-67C96B3E204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19903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7160E4-088D-D14A-65FB-DB4984A62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8A26384-5BE7-22CB-226C-7AB55EA18C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9C77370-19F5-577F-6C3A-6246B05D9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BC0AF-5221-47F3-9F2C-59C18E972B53}" type="datetimeFigureOut">
              <a:rPr lang="es-CO" smtClean="0"/>
              <a:t>12/03/2026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6FA6464-2F99-6F3D-73CF-86D9B8EC7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470BA1-4795-97C0-DF2D-68932289B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F2D16-C549-4858-A387-67C96B3E204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7861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11D37C-B9ED-607C-C980-99F304C91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3B4787F-7DC7-AF67-1271-E97E9A5B43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80F0E22-6F3B-7029-1185-A6ABD1A71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BC0AF-5221-47F3-9F2C-59C18E972B53}" type="datetimeFigureOut">
              <a:rPr lang="es-CO" smtClean="0"/>
              <a:t>12/03/2026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5D5B018-2447-AA03-7538-A36D250A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49D5752-6462-0010-BB39-9FCEB77CD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F2D16-C549-4858-A387-67C96B3E204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142573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7DDB47-CF2E-AC58-D0AE-AEC75B9EB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D3249B2-8539-1139-A7E3-843450174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3837290-8ECF-DC65-7720-537D62A5F2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C5CD9A8-399F-FD01-0AA6-2A6A86447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BC0AF-5221-47F3-9F2C-59C18E972B53}" type="datetimeFigureOut">
              <a:rPr lang="es-CO" smtClean="0"/>
              <a:t>12/03/2026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8735C8D-9F42-998D-7D3C-C70F1D5AD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171F9AB-1D96-3FB8-705A-F4A0CF49F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F2D16-C549-4858-A387-67C96B3E204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796395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49D622-B774-0F23-7E4E-AA439882E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C5202FF-34A0-86A9-06EB-BAE3C3F4A2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A594E09-3883-8F1F-6DEB-504F016548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296C26E-4DFB-3DC0-C2DD-F6A1FD18AA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9CA3FF2-891E-96DD-89D3-41CF3DC328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D9CF50C-1F5A-2517-8BBE-2A373215F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BC0AF-5221-47F3-9F2C-59C18E972B53}" type="datetimeFigureOut">
              <a:rPr lang="es-CO" smtClean="0"/>
              <a:t>12/03/2026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0B26C31-8D81-CF67-DA6F-77586A8C2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CB2B0C4-C9A9-5D0C-11E5-5B3392A18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F2D16-C549-4858-A387-67C96B3E204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483373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4A983B-17F3-7E2D-89E2-C95AEDA38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5889344-BE7F-7B45-9961-B1AD35980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BC0AF-5221-47F3-9F2C-59C18E972B53}" type="datetimeFigureOut">
              <a:rPr lang="es-CO" smtClean="0"/>
              <a:t>12/03/2026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BAB5F9D-E003-F345-1679-5E290E90D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F5F5A40-D9D8-3029-A9BD-091975812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F2D16-C549-4858-A387-67C96B3E204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55777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46C9B30-AEBE-EB50-2583-0C3140E75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BC0AF-5221-47F3-9F2C-59C18E972B53}" type="datetimeFigureOut">
              <a:rPr lang="es-CO" smtClean="0"/>
              <a:t>12/03/2026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A39EAB0-6B70-9F61-C3B9-4992E5B70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AAC339E-1EF6-AC1D-6F4C-08BD78E7C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F2D16-C549-4858-A387-67C96B3E204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23777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B8D8B5-65C0-170F-7884-5C6CE902E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ED34FDB-8641-86B4-4D86-D79023B3FD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C605A9E-20EC-4DC1-C2A3-ACDA421C33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970933E-D664-9F33-4C5E-222F38F12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BC0AF-5221-47F3-9F2C-59C18E972B53}" type="datetimeFigureOut">
              <a:rPr lang="es-CO" smtClean="0"/>
              <a:t>12/03/2026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D8C73CA-EFDD-A8C0-2B29-D2FA7C8EF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97296F2-8040-13D7-D7D3-25E459AE6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F2D16-C549-4858-A387-67C96B3E204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52847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39518F-3CD1-F3E6-5CDA-A66384C13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0E43ED7-C525-7EA2-0C55-78EDD1FB9D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F7151EA-8137-F170-7AE5-8EC721685A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A1E5E56-4546-5EFF-8BCE-BC9388A4B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BC0AF-5221-47F3-9F2C-59C18E972B53}" type="datetimeFigureOut">
              <a:rPr lang="es-CO" smtClean="0"/>
              <a:t>12/03/2026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2343F86-7049-9D45-3CA7-6EF777CC8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113BD99-CC47-911A-5A55-84BD33E80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F2D16-C549-4858-A387-67C96B3E204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66484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BC887F-E052-D2EB-9127-10C06FE68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BBD0584-0007-84C6-373C-1E48F35B18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D47F7B5-3E8D-A67A-81FD-E5798F336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BC0AF-5221-47F3-9F2C-59C18E972B53}" type="datetimeFigureOut">
              <a:rPr lang="es-CO" smtClean="0"/>
              <a:t>12/03/2026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6A5A8E-94E5-896D-3244-D50915AEB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20C483F-8D3D-AF63-B2F6-2F5A9A190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F2D16-C549-4858-A387-67C96B3E204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80967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BC62E64-C2AB-6693-2F4C-9E64AFE1B5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F4C23B1-8091-3DB5-1641-F9123D7829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56411DF-6E92-66BE-D50C-2CA725BD9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BC0AF-5221-47F3-9F2C-59C18E972B53}" type="datetimeFigureOut">
              <a:rPr lang="es-CO" smtClean="0"/>
              <a:t>12/03/2026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3093088-A1F7-8EA7-9513-4F96BC067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7073E80-92AE-EE3D-7620-7D2A13D52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F2D16-C549-4858-A387-67C96B3E204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01280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EE12A5A-C6B2-925A-E7E5-EA9336964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29A8F93-D132-0532-6396-96D27B301F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752D2A-341D-FA61-EF77-A881F30D7F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2BC0AF-5221-47F3-9F2C-59C18E972B53}" type="datetimeFigureOut">
              <a:rPr lang="es-CO" smtClean="0"/>
              <a:t>12/03/2026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38B1948-9B5D-DC86-F976-E31A9CC983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0B76795-FBD0-1F55-598A-0D4991F79B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2F2D16-C549-4858-A387-67C96B3E204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27477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A4F7A18-E08D-3C7E-2BA0-D9BB548A0D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2478" y="2262688"/>
            <a:ext cx="1686605" cy="2067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9906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69E15508-9EA2-2D30-F59E-6C0C87DB13F1}"/>
              </a:ext>
            </a:extLst>
          </p:cNvPr>
          <p:cNvSpPr/>
          <p:nvPr/>
        </p:nvSpPr>
        <p:spPr>
          <a:xfrm>
            <a:off x="0" y="1003110"/>
            <a:ext cx="12192000" cy="4851779"/>
          </a:xfrm>
          <a:prstGeom prst="rect">
            <a:avLst/>
          </a:prstGeom>
          <a:solidFill>
            <a:srgbClr val="E59D4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7F32E6BC-7A3E-DE9A-8A98-8E5395F4DD0C}"/>
              </a:ext>
            </a:extLst>
          </p:cNvPr>
          <p:cNvSpPr txBox="1">
            <a:spLocks/>
          </p:cNvSpPr>
          <p:nvPr/>
        </p:nvSpPr>
        <p:spPr>
          <a:xfrm>
            <a:off x="809708" y="2575560"/>
            <a:ext cx="10252544" cy="111985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r>
              <a:rPr lang="es-CO" sz="3600" b="1" dirty="0">
                <a:solidFill>
                  <a:schemeClr val="bg1"/>
                </a:solidFill>
              </a:rPr>
              <a:t>ED01 - Actualización y Soporte CNABF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E0C5DEE-BC32-CD28-B38B-733F5888176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013"/>
          <a:stretch/>
        </p:blipFill>
        <p:spPr>
          <a:xfrm>
            <a:off x="4991310" y="6261739"/>
            <a:ext cx="2209380" cy="160233"/>
          </a:xfrm>
          <a:prstGeom prst="rect">
            <a:avLst/>
          </a:prstGeom>
        </p:spPr>
      </p:pic>
      <p:sp>
        <p:nvSpPr>
          <p:cNvPr id="7" name="Título 3">
            <a:extLst>
              <a:ext uri="{FF2B5EF4-FFF2-40B4-BE49-F238E27FC236}">
                <a16:creationId xmlns:a16="http://schemas.microsoft.com/office/drawing/2014/main" id="{24FF8D7A-49AA-4BB1-A4D7-1C9483256125}"/>
              </a:ext>
            </a:extLst>
          </p:cNvPr>
          <p:cNvSpPr txBox="1">
            <a:spLocks/>
          </p:cNvSpPr>
          <p:nvPr/>
        </p:nvSpPr>
        <p:spPr>
          <a:xfrm>
            <a:off x="809708" y="1839979"/>
            <a:ext cx="2878372" cy="65746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r>
              <a:rPr lang="es-CO" sz="4400" b="1" dirty="0">
                <a:solidFill>
                  <a:schemeClr val="bg1"/>
                </a:solidFill>
              </a:rPr>
              <a:t>Avances</a:t>
            </a:r>
          </a:p>
        </p:txBody>
      </p:sp>
    </p:spTree>
    <p:extLst>
      <p:ext uri="{BB962C8B-B14F-4D97-AF65-F5344CB8AC3E}">
        <p14:creationId xmlns:p14="http://schemas.microsoft.com/office/powerpoint/2010/main" val="25416415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69E15508-9EA2-2D30-F59E-6C0C87DB13F1}"/>
              </a:ext>
            </a:extLst>
          </p:cNvPr>
          <p:cNvSpPr/>
          <p:nvPr/>
        </p:nvSpPr>
        <p:spPr>
          <a:xfrm>
            <a:off x="0" y="1003110"/>
            <a:ext cx="12192000" cy="4851779"/>
          </a:xfrm>
          <a:prstGeom prst="rect">
            <a:avLst/>
          </a:prstGeom>
          <a:solidFill>
            <a:srgbClr val="E59D4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7F32E6BC-7A3E-DE9A-8A98-8E5395F4DD0C}"/>
              </a:ext>
            </a:extLst>
          </p:cNvPr>
          <p:cNvSpPr txBox="1">
            <a:spLocks/>
          </p:cNvSpPr>
          <p:nvPr/>
        </p:nvSpPr>
        <p:spPr>
          <a:xfrm>
            <a:off x="291548" y="3055902"/>
            <a:ext cx="4143292" cy="74619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r>
              <a:rPr lang="es-CO" sz="3600" b="1" dirty="0">
                <a:solidFill>
                  <a:schemeClr val="bg1"/>
                </a:solidFill>
              </a:rPr>
              <a:t>Metodología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E0C5DEE-BC32-CD28-B38B-733F5888176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013"/>
          <a:stretch/>
        </p:blipFill>
        <p:spPr>
          <a:xfrm>
            <a:off x="4991310" y="6261739"/>
            <a:ext cx="2209380" cy="160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7999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917312-ED07-B34B-B5E4-05A05E35C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11507"/>
            <a:ext cx="9618406" cy="564079"/>
          </a:xfrm>
        </p:spPr>
        <p:txBody>
          <a:bodyPr>
            <a:normAutofit/>
          </a:bodyPr>
          <a:lstStyle/>
          <a:p>
            <a:r>
              <a:rPr lang="es-MX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Recursos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8F9FCC0-DD21-51A2-FBE5-368D698142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7863"/>
            <a:ext cx="10865152" cy="160757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MX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 cuenta con dos </a:t>
            </a:r>
            <a:r>
              <a:rPr lang="es-MX" sz="1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PDFs</a:t>
            </a:r>
            <a:r>
              <a:rPr lang="es-MX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correspondientes a las dos últimas ediciones del Reglamento de Radiodifusión presentado por la UIT, para el proyecto piloto referente a este año, se cuenta con el RR-2020-ed1 y el RR-2024-ed1.</a:t>
            </a:r>
          </a:p>
          <a:p>
            <a:pPr marL="0" indent="0">
              <a:buNone/>
            </a:pPr>
            <a:endParaRPr lang="es-MX" sz="1800" dirty="0">
              <a:solidFill>
                <a:schemeClr val="tx1">
                  <a:lumMod val="65000"/>
                  <a:lumOff val="3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59D7563-2B62-4FDA-6B51-F83A0A3D0EC7}"/>
              </a:ext>
            </a:extLst>
          </p:cNvPr>
          <p:cNvSpPr/>
          <p:nvPr/>
        </p:nvSpPr>
        <p:spPr>
          <a:xfrm>
            <a:off x="0" y="6666492"/>
            <a:ext cx="12192000" cy="191508"/>
          </a:xfrm>
          <a:prstGeom prst="rect">
            <a:avLst/>
          </a:prstGeom>
          <a:solidFill>
            <a:srgbClr val="E59D4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163BB6B-791E-AA3D-14EA-0396E90047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4247" y="365125"/>
            <a:ext cx="699105" cy="856844"/>
          </a:xfrm>
          <a:prstGeom prst="rect">
            <a:avLst/>
          </a:prstGeom>
        </p:spPr>
      </p:pic>
      <p:grpSp>
        <p:nvGrpSpPr>
          <p:cNvPr id="10" name="Grupo 9">
            <a:extLst>
              <a:ext uri="{FF2B5EF4-FFF2-40B4-BE49-F238E27FC236}">
                <a16:creationId xmlns:a16="http://schemas.microsoft.com/office/drawing/2014/main" id="{F58B2CCD-9D5E-45BB-A37F-9E1BE3FFEF4F}"/>
              </a:ext>
            </a:extLst>
          </p:cNvPr>
          <p:cNvGrpSpPr/>
          <p:nvPr/>
        </p:nvGrpSpPr>
        <p:grpSpPr>
          <a:xfrm>
            <a:off x="6096000" y="3408388"/>
            <a:ext cx="1993524" cy="2260012"/>
            <a:chOff x="3450804" y="3234320"/>
            <a:chExt cx="1993524" cy="2260012"/>
          </a:xfrm>
        </p:grpSpPr>
        <p:pic>
          <p:nvPicPr>
            <p:cNvPr id="6" name="Picture 2" descr="Pdf - Iconos gratis de archivos y carpetas">
              <a:extLst>
                <a:ext uri="{FF2B5EF4-FFF2-40B4-BE49-F238E27FC236}">
                  <a16:creationId xmlns:a16="http://schemas.microsoft.com/office/drawing/2014/main" id="{CFD053B4-5003-48D8-A84A-60B3194FE61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50804" y="3234320"/>
              <a:ext cx="1852716" cy="18527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F84FF7B7-2161-481E-BACB-3EFAECCCBE75}"/>
                </a:ext>
              </a:extLst>
            </p:cNvPr>
            <p:cNvSpPr txBox="1"/>
            <p:nvPr/>
          </p:nvSpPr>
          <p:spPr>
            <a:xfrm>
              <a:off x="3450804" y="5125000"/>
              <a:ext cx="199352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 algn="just">
                <a:buNone/>
              </a:pPr>
              <a:r>
                <a:rPr lang="es-MX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RR-2024-ed1.</a:t>
              </a:r>
            </a:p>
          </p:txBody>
        </p:sp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CE9FF230-7A20-483F-9F1A-FE39E1A09795}"/>
              </a:ext>
            </a:extLst>
          </p:cNvPr>
          <p:cNvGrpSpPr/>
          <p:nvPr/>
        </p:nvGrpSpPr>
        <p:grpSpPr>
          <a:xfrm>
            <a:off x="3431432" y="3429000"/>
            <a:ext cx="1993524" cy="2260012"/>
            <a:chOff x="3450804" y="3234320"/>
            <a:chExt cx="1993524" cy="2260012"/>
          </a:xfrm>
        </p:grpSpPr>
        <p:pic>
          <p:nvPicPr>
            <p:cNvPr id="12" name="Picture 2" descr="Pdf - Iconos gratis de archivos y carpetas">
              <a:extLst>
                <a:ext uri="{FF2B5EF4-FFF2-40B4-BE49-F238E27FC236}">
                  <a16:creationId xmlns:a16="http://schemas.microsoft.com/office/drawing/2014/main" id="{50D1C96D-5B4D-4EF7-8D81-F79C95BF8E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50804" y="3234320"/>
              <a:ext cx="1852716" cy="18527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5A24A03E-947D-4EFB-981A-E02B50AF3E67}"/>
                </a:ext>
              </a:extLst>
            </p:cNvPr>
            <p:cNvSpPr txBox="1"/>
            <p:nvPr/>
          </p:nvSpPr>
          <p:spPr>
            <a:xfrm>
              <a:off x="3450804" y="5125000"/>
              <a:ext cx="199352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 algn="just">
                <a:buNone/>
              </a:pPr>
              <a:r>
                <a:rPr lang="es-MX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RR-2020-ed1.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536680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917312-ED07-B34B-B5E4-05A05E35C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11507"/>
            <a:ext cx="9618406" cy="564079"/>
          </a:xfrm>
        </p:spPr>
        <p:txBody>
          <a:bodyPr>
            <a:normAutofit/>
          </a:bodyPr>
          <a:lstStyle/>
          <a:p>
            <a:r>
              <a:rPr lang="es-MX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Metodología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8F9FCC0-DD21-51A2-FBE5-368D698142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6280" y="1356355"/>
            <a:ext cx="5791200" cy="5150137"/>
          </a:xfrm>
        </p:spPr>
        <p:txBody>
          <a:bodyPr>
            <a:normAutofit fontScale="25000" lnSpcReduction="20000"/>
          </a:bodyPr>
          <a:lstStyle/>
          <a:p>
            <a:pPr marL="0" indent="0" algn="just">
              <a:lnSpc>
                <a:spcPct val="110000"/>
              </a:lnSpc>
              <a:buNone/>
            </a:pPr>
            <a:r>
              <a:rPr lang="es-ES" sz="7200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 hizo uso del programa </a:t>
            </a:r>
            <a:r>
              <a:rPr lang="es-ES" sz="72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Draftable</a:t>
            </a:r>
            <a:r>
              <a:rPr lang="es-ES" sz="7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s-ES" sz="7200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para obtener un primer insumo acerca de los cambios en bruto de ambos documentos RR-2020 y RR-2024.</a:t>
            </a:r>
          </a:p>
          <a:p>
            <a:pPr marL="0" indent="0" algn="just">
              <a:lnSpc>
                <a:spcPct val="110000"/>
              </a:lnSpc>
              <a:buNone/>
            </a:pPr>
            <a:endParaRPr lang="es-ES" sz="7200" b="1" dirty="0">
              <a:solidFill>
                <a:schemeClr val="tx1">
                  <a:lumMod val="65000"/>
                  <a:lumOff val="3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indent="0" algn="just">
              <a:lnSpc>
                <a:spcPct val="110000"/>
              </a:lnSpc>
              <a:buNone/>
            </a:pPr>
            <a:r>
              <a:rPr lang="es-ES" sz="7200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El documento con los cambios en bruto se preprocesa con la ayuda de script de </a:t>
            </a:r>
            <a:r>
              <a:rPr lang="es-ES" sz="7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python</a:t>
            </a:r>
            <a:r>
              <a:rPr lang="es-ES" sz="7200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que depura estos cambios dejando sólo los significantes. </a:t>
            </a:r>
          </a:p>
          <a:p>
            <a:pPr marL="0" indent="0" algn="just">
              <a:lnSpc>
                <a:spcPct val="110000"/>
              </a:lnSpc>
              <a:buNone/>
            </a:pPr>
            <a:endParaRPr lang="es-ES" sz="7200" dirty="0">
              <a:solidFill>
                <a:schemeClr val="tx1">
                  <a:lumMod val="65000"/>
                  <a:lumOff val="3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indent="0" algn="just">
              <a:lnSpc>
                <a:spcPct val="110000"/>
              </a:lnSpc>
              <a:buNone/>
            </a:pPr>
            <a:r>
              <a:rPr lang="es-ES" sz="7200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 usa un modelo de IA (LLM) para la lectura y entendimientos generales de los cambios presentes entre los documentos. Proporcionando un reporte con las actualizaciones más relevantes de la nueva edición del RR.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59D7563-2B62-4FDA-6B51-F83A0A3D0EC7}"/>
              </a:ext>
            </a:extLst>
          </p:cNvPr>
          <p:cNvSpPr/>
          <p:nvPr/>
        </p:nvSpPr>
        <p:spPr>
          <a:xfrm>
            <a:off x="0" y="6666492"/>
            <a:ext cx="12192000" cy="191508"/>
          </a:xfrm>
          <a:prstGeom prst="rect">
            <a:avLst/>
          </a:prstGeom>
          <a:solidFill>
            <a:srgbClr val="E59D4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163BB6B-791E-AA3D-14EA-0396E90047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4247" y="365125"/>
            <a:ext cx="699105" cy="856844"/>
          </a:xfrm>
          <a:prstGeom prst="rect">
            <a:avLst/>
          </a:prstGeom>
        </p:spPr>
      </p:pic>
      <p:pic>
        <p:nvPicPr>
          <p:cNvPr id="14" name="Picture 2" descr="Pdf - Iconos gratis de archivos y carpetas">
            <a:extLst>
              <a:ext uri="{FF2B5EF4-FFF2-40B4-BE49-F238E27FC236}">
                <a16:creationId xmlns:a16="http://schemas.microsoft.com/office/drawing/2014/main" id="{A7997B39-4F99-49FD-8A38-5D929F3E2D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6044" y="1235586"/>
            <a:ext cx="1046129" cy="1046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4" descr="Asistente de ai - Iconos gratis de tecnología">
            <a:extLst>
              <a:ext uri="{FF2B5EF4-FFF2-40B4-BE49-F238E27FC236}">
                <a16:creationId xmlns:a16="http://schemas.microsoft.com/office/drawing/2014/main" id="{3DC3DD39-FFB2-49BD-BDF6-039C414184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8498" y="4097869"/>
            <a:ext cx="1310600" cy="131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0" descr="Python logo - Icono gratis PNG, SVG">
            <a:extLst>
              <a:ext uri="{FF2B5EF4-FFF2-40B4-BE49-F238E27FC236}">
                <a16:creationId xmlns:a16="http://schemas.microsoft.com/office/drawing/2014/main" id="{F549ECA6-13AF-4406-AF27-02DC6FAB9A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6044" y="2693761"/>
            <a:ext cx="1046129" cy="1046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6" descr="Flecha siguiente - Iconos gratis de flechas">
            <a:extLst>
              <a:ext uri="{FF2B5EF4-FFF2-40B4-BE49-F238E27FC236}">
                <a16:creationId xmlns:a16="http://schemas.microsoft.com/office/drawing/2014/main" id="{4A09FC9A-1A42-4C0A-9FBA-DDD8939C3B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309414">
            <a:off x="8742409" y="1792352"/>
            <a:ext cx="806747" cy="359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6B6C87CB-D92E-473B-81CA-18086204EDB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37175" y="1840417"/>
            <a:ext cx="1951657" cy="680620"/>
          </a:xfrm>
          <a:prstGeom prst="rect">
            <a:avLst/>
          </a:prstGeom>
        </p:spPr>
      </p:pic>
      <p:pic>
        <p:nvPicPr>
          <p:cNvPr id="1032" name="Picture 8" descr="Docx - Iconos gratis de archivos y carpetas">
            <a:extLst>
              <a:ext uri="{FF2B5EF4-FFF2-40B4-BE49-F238E27FC236}">
                <a16:creationId xmlns:a16="http://schemas.microsoft.com/office/drawing/2014/main" id="{E5DA52C4-C42D-4DA2-8394-470E2BED60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3811" y="3154227"/>
            <a:ext cx="1297409" cy="1297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Informe - Iconos gratis de negocio">
            <a:extLst>
              <a:ext uri="{FF2B5EF4-FFF2-40B4-BE49-F238E27FC236}">
                <a16:creationId xmlns:a16="http://schemas.microsoft.com/office/drawing/2014/main" id="{72AF3025-F16B-453C-AB47-166A9BCCCA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4310" y="5015900"/>
            <a:ext cx="1222543" cy="1222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6" descr="Flecha siguiente - Iconos gratis de flechas">
            <a:extLst>
              <a:ext uri="{FF2B5EF4-FFF2-40B4-BE49-F238E27FC236}">
                <a16:creationId xmlns:a16="http://schemas.microsoft.com/office/drawing/2014/main" id="{755A25B0-5D03-4DD7-8DD9-A54F44E197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290586" flipH="1">
            <a:off x="8731449" y="2582703"/>
            <a:ext cx="806747" cy="359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6" descr="Flecha siguiente - Iconos gratis de flechas">
            <a:extLst>
              <a:ext uri="{FF2B5EF4-FFF2-40B4-BE49-F238E27FC236}">
                <a16:creationId xmlns:a16="http://schemas.microsoft.com/office/drawing/2014/main" id="{4ED17983-D34D-47DC-8653-7654FFF2E0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309414">
            <a:off x="8927788" y="3371896"/>
            <a:ext cx="806747" cy="359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6" descr="Flecha siguiente - Iconos gratis de flechas">
            <a:extLst>
              <a:ext uri="{FF2B5EF4-FFF2-40B4-BE49-F238E27FC236}">
                <a16:creationId xmlns:a16="http://schemas.microsoft.com/office/drawing/2014/main" id="{95146072-A03D-4267-857E-71631BCDC5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309414">
            <a:off x="9017926" y="5270125"/>
            <a:ext cx="806747" cy="359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6" descr="Flecha siguiente - Iconos gratis de flechas">
            <a:extLst>
              <a:ext uri="{FF2B5EF4-FFF2-40B4-BE49-F238E27FC236}">
                <a16:creationId xmlns:a16="http://schemas.microsoft.com/office/drawing/2014/main" id="{E714FAC7-4ECD-456C-84D5-D83A4036B5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290586" flipH="1">
            <a:off x="8856347" y="4090827"/>
            <a:ext cx="806747" cy="359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12324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69E15508-9EA2-2D30-F59E-6C0C87DB13F1}"/>
              </a:ext>
            </a:extLst>
          </p:cNvPr>
          <p:cNvSpPr/>
          <p:nvPr/>
        </p:nvSpPr>
        <p:spPr>
          <a:xfrm>
            <a:off x="0" y="1003110"/>
            <a:ext cx="12192000" cy="4851779"/>
          </a:xfrm>
          <a:prstGeom prst="rect">
            <a:avLst/>
          </a:prstGeom>
          <a:solidFill>
            <a:srgbClr val="E59D4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7F32E6BC-7A3E-DE9A-8A98-8E5395F4DD0C}"/>
              </a:ext>
            </a:extLst>
          </p:cNvPr>
          <p:cNvSpPr txBox="1">
            <a:spLocks/>
          </p:cNvSpPr>
          <p:nvPr/>
        </p:nvSpPr>
        <p:spPr>
          <a:xfrm>
            <a:off x="291548" y="3055902"/>
            <a:ext cx="4143292" cy="74619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r>
              <a:rPr lang="es-CO" sz="3600" b="1" dirty="0">
                <a:solidFill>
                  <a:schemeClr val="bg1"/>
                </a:solidFill>
              </a:rPr>
              <a:t>Resultados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E0C5DEE-BC32-CD28-B38B-733F5888176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013"/>
          <a:stretch/>
        </p:blipFill>
        <p:spPr>
          <a:xfrm>
            <a:off x="4991310" y="6261739"/>
            <a:ext cx="2209380" cy="160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8819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917312-ED07-B34B-B5E4-05A05E35C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11507"/>
            <a:ext cx="9618406" cy="564079"/>
          </a:xfrm>
        </p:spPr>
        <p:txBody>
          <a:bodyPr>
            <a:normAutofit/>
          </a:bodyPr>
          <a:lstStyle/>
          <a:p>
            <a:r>
              <a:rPr lang="es-MX" sz="32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Draftable</a:t>
            </a:r>
            <a:endParaRPr lang="es-MX" sz="3200" b="1" dirty="0">
              <a:solidFill>
                <a:schemeClr val="tx1">
                  <a:lumMod val="65000"/>
                  <a:lumOff val="3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8F9FCC0-DD21-51A2-FBE5-368D698142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6280" y="1356355"/>
            <a:ext cx="11125200" cy="1310645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10000"/>
              </a:lnSpc>
              <a:buNone/>
            </a:pPr>
            <a:r>
              <a:rPr lang="es-E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Es un software especializado en la </a:t>
            </a:r>
            <a:r>
              <a:rPr lang="es-ES" sz="1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dectección</a:t>
            </a:r>
            <a:r>
              <a:rPr lang="es-E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de cambios en documentos de diferentes tipos de documentos, como </a:t>
            </a:r>
            <a:r>
              <a:rPr lang="es-ES" sz="1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PDFs</a:t>
            </a:r>
            <a:r>
              <a:rPr lang="es-E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  El precio de esta plataforma mensual es de 10 USD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59D7563-2B62-4FDA-6B51-F83A0A3D0EC7}"/>
              </a:ext>
            </a:extLst>
          </p:cNvPr>
          <p:cNvSpPr/>
          <p:nvPr/>
        </p:nvSpPr>
        <p:spPr>
          <a:xfrm>
            <a:off x="0" y="6666492"/>
            <a:ext cx="12192000" cy="191508"/>
          </a:xfrm>
          <a:prstGeom prst="rect">
            <a:avLst/>
          </a:prstGeom>
          <a:solidFill>
            <a:srgbClr val="E59D4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163BB6B-791E-AA3D-14EA-0396E90047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4247" y="365125"/>
            <a:ext cx="699105" cy="85684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59FC98D7-907A-4844-90E5-6E9415E5C89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899" t="7236"/>
          <a:stretch/>
        </p:blipFill>
        <p:spPr>
          <a:xfrm>
            <a:off x="1693606" y="2250374"/>
            <a:ext cx="8808720" cy="3881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9314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917312-ED07-B34B-B5E4-05A05E35C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11507"/>
            <a:ext cx="9618406" cy="564079"/>
          </a:xfrm>
        </p:spPr>
        <p:txBody>
          <a:bodyPr>
            <a:normAutofit/>
          </a:bodyPr>
          <a:lstStyle/>
          <a:p>
            <a:r>
              <a:rPr lang="es-MX" sz="32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Draftable</a:t>
            </a:r>
            <a:r>
              <a:rPr lang="es-MX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- Resultados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8F9FCC0-DD21-51A2-FBE5-368D698142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6280" y="1356355"/>
            <a:ext cx="11125200" cy="1310645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10000"/>
              </a:lnSpc>
              <a:buNone/>
            </a:pPr>
            <a:r>
              <a:rPr lang="es-E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Después de hacer el proceso de comparación en </a:t>
            </a:r>
            <a:r>
              <a:rPr lang="es-ES" sz="1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draftable</a:t>
            </a:r>
            <a:r>
              <a:rPr lang="es-E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de resultado tenemos un documento docx, que es un reporte de cambios con 2915 registros. 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59D7563-2B62-4FDA-6B51-F83A0A3D0EC7}"/>
              </a:ext>
            </a:extLst>
          </p:cNvPr>
          <p:cNvSpPr/>
          <p:nvPr/>
        </p:nvSpPr>
        <p:spPr>
          <a:xfrm>
            <a:off x="0" y="6666492"/>
            <a:ext cx="12192000" cy="191508"/>
          </a:xfrm>
          <a:prstGeom prst="rect">
            <a:avLst/>
          </a:prstGeom>
          <a:solidFill>
            <a:srgbClr val="E59D4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163BB6B-791E-AA3D-14EA-0396E90047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4247" y="365125"/>
            <a:ext cx="699105" cy="856844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4E0C0389-3BDB-495A-B4F5-E2ECDE17606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-855" r="5756"/>
          <a:stretch/>
        </p:blipFill>
        <p:spPr>
          <a:xfrm>
            <a:off x="2320001" y="2270760"/>
            <a:ext cx="6961160" cy="4228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1119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917312-ED07-B34B-B5E4-05A05E35C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11507"/>
            <a:ext cx="9618406" cy="564079"/>
          </a:xfrm>
        </p:spPr>
        <p:txBody>
          <a:bodyPr>
            <a:normAutofit/>
          </a:bodyPr>
          <a:lstStyle/>
          <a:p>
            <a:r>
              <a:rPr lang="es-MX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Limpieza de los cambios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8F9FCC0-DD21-51A2-FBE5-368D698142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6280" y="1356355"/>
            <a:ext cx="11125200" cy="1310645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10000"/>
              </a:lnSpc>
              <a:buNone/>
            </a:pPr>
            <a:r>
              <a:rPr lang="es-E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 depuran los cambios para identificar verdaderas actualizaciones entre estas 2915 filas, obteniendo así, 205 cambios significativos.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59D7563-2B62-4FDA-6B51-F83A0A3D0EC7}"/>
              </a:ext>
            </a:extLst>
          </p:cNvPr>
          <p:cNvSpPr/>
          <p:nvPr/>
        </p:nvSpPr>
        <p:spPr>
          <a:xfrm>
            <a:off x="0" y="6666492"/>
            <a:ext cx="12192000" cy="191508"/>
          </a:xfrm>
          <a:prstGeom prst="rect">
            <a:avLst/>
          </a:prstGeom>
          <a:solidFill>
            <a:srgbClr val="E59D4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163BB6B-791E-AA3D-14EA-0396E90047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4247" y="365125"/>
            <a:ext cx="699105" cy="85684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4CACC1CE-B283-4222-BA22-2AF6BEA600F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5459"/>
          <a:stretch/>
        </p:blipFill>
        <p:spPr>
          <a:xfrm>
            <a:off x="2034755" y="2268640"/>
            <a:ext cx="7225296" cy="3844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3313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917312-ED07-B34B-B5E4-05A05E35C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11507"/>
            <a:ext cx="9618406" cy="564079"/>
          </a:xfrm>
        </p:spPr>
        <p:txBody>
          <a:bodyPr>
            <a:normAutofit/>
          </a:bodyPr>
          <a:lstStyle/>
          <a:p>
            <a:r>
              <a:rPr lang="es-MX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Implementación de la IA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8F9FCC0-DD21-51A2-FBE5-368D698142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6280" y="1356355"/>
            <a:ext cx="11125200" cy="1310645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10000"/>
              </a:lnSpc>
              <a:buNone/>
            </a:pPr>
            <a:r>
              <a:rPr lang="es-E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Estos registros son evaluados por una IA para obtener un informe detallado acerca de los cambios más representativos y de mayor impacto entre estas dos ediciones del RR.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59D7563-2B62-4FDA-6B51-F83A0A3D0EC7}"/>
              </a:ext>
            </a:extLst>
          </p:cNvPr>
          <p:cNvSpPr/>
          <p:nvPr/>
        </p:nvSpPr>
        <p:spPr>
          <a:xfrm>
            <a:off x="0" y="6666492"/>
            <a:ext cx="12192000" cy="191508"/>
          </a:xfrm>
          <a:prstGeom prst="rect">
            <a:avLst/>
          </a:prstGeom>
          <a:solidFill>
            <a:srgbClr val="E59D4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163BB6B-791E-AA3D-14EA-0396E90047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4247" y="365125"/>
            <a:ext cx="699105" cy="856844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F7A1C1E3-40DF-42C5-935A-575EC98277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3671" y="2147076"/>
            <a:ext cx="7917569" cy="4199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4484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69E15508-9EA2-2D30-F59E-6C0C87DB13F1}"/>
              </a:ext>
            </a:extLst>
          </p:cNvPr>
          <p:cNvSpPr/>
          <p:nvPr/>
        </p:nvSpPr>
        <p:spPr>
          <a:xfrm>
            <a:off x="0" y="1003110"/>
            <a:ext cx="12192000" cy="4851779"/>
          </a:xfrm>
          <a:prstGeom prst="rect">
            <a:avLst/>
          </a:prstGeom>
          <a:solidFill>
            <a:srgbClr val="E59D4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7F32E6BC-7A3E-DE9A-8A98-8E5395F4DD0C}"/>
              </a:ext>
            </a:extLst>
          </p:cNvPr>
          <p:cNvSpPr txBox="1">
            <a:spLocks/>
          </p:cNvSpPr>
          <p:nvPr/>
        </p:nvSpPr>
        <p:spPr>
          <a:xfrm>
            <a:off x="291548" y="3055902"/>
            <a:ext cx="5453932" cy="74619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r>
              <a:rPr lang="es-CO" sz="3600" b="1" dirty="0">
                <a:solidFill>
                  <a:schemeClr val="bg1"/>
                </a:solidFill>
              </a:rPr>
              <a:t>Entregables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E0C5DEE-BC32-CD28-B38B-733F5888176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013"/>
          <a:stretch/>
        </p:blipFill>
        <p:spPr>
          <a:xfrm>
            <a:off x="4991310" y="6261739"/>
            <a:ext cx="2209380" cy="160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4838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917312-ED07-B34B-B5E4-05A05E35C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11507"/>
            <a:ext cx="9618406" cy="564079"/>
          </a:xfrm>
        </p:spPr>
        <p:txBody>
          <a:bodyPr>
            <a:normAutofit/>
          </a:bodyPr>
          <a:lstStyle/>
          <a:p>
            <a:r>
              <a:rPr lang="es-MX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Productos entregables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8F9FCC0-DD21-51A2-FBE5-368D698142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6280" y="1356355"/>
            <a:ext cx="11125200" cy="3611885"/>
          </a:xfrm>
        </p:spPr>
        <p:txBody>
          <a:bodyPr>
            <a:normAutofit/>
          </a:bodyPr>
          <a:lstStyle/>
          <a:p>
            <a:pPr marL="457200" indent="-457200" algn="just">
              <a:lnSpc>
                <a:spcPct val="130000"/>
              </a:lnSpc>
              <a:buFont typeface="+mj-lt"/>
              <a:buAutoNum type="arabicPeriod"/>
            </a:pPr>
            <a:r>
              <a:rPr lang="es-E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Reportes del Análisis Comparativo entre los reglamentos de radiodifusión de los distintos años.</a:t>
            </a:r>
          </a:p>
          <a:p>
            <a:pPr marL="457200" indent="-457200" algn="just">
              <a:lnSpc>
                <a:spcPct val="130000"/>
              </a:lnSpc>
              <a:buFont typeface="+mj-lt"/>
              <a:buAutoNum type="arabicPeriod"/>
            </a:pPr>
            <a:r>
              <a:rPr lang="es-E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Repositorio de Herramientas de Automatización. </a:t>
            </a:r>
          </a:p>
          <a:p>
            <a:pPr marL="457200" indent="-457200" algn="just">
              <a:lnSpc>
                <a:spcPct val="130000"/>
              </a:lnSpc>
              <a:buFont typeface="+mj-lt"/>
              <a:buAutoNum type="arabicPeriod"/>
            </a:pPr>
            <a:r>
              <a:rPr lang="es-E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Plan de Trabajo y ruta Metodológica.</a:t>
            </a:r>
          </a:p>
          <a:p>
            <a:pPr marL="457200" indent="-457200" algn="just">
              <a:lnSpc>
                <a:spcPct val="130000"/>
              </a:lnSpc>
              <a:buFont typeface="+mj-lt"/>
              <a:buAutoNum type="arabicPeriod"/>
            </a:pPr>
            <a:r>
              <a:rPr lang="es-E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Presentación con los resultados.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59D7563-2B62-4FDA-6B51-F83A0A3D0EC7}"/>
              </a:ext>
            </a:extLst>
          </p:cNvPr>
          <p:cNvSpPr/>
          <p:nvPr/>
        </p:nvSpPr>
        <p:spPr>
          <a:xfrm>
            <a:off x="0" y="6666492"/>
            <a:ext cx="12192000" cy="191508"/>
          </a:xfrm>
          <a:prstGeom prst="rect">
            <a:avLst/>
          </a:prstGeom>
          <a:solidFill>
            <a:srgbClr val="E59D4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163BB6B-791E-AA3D-14EA-0396E90047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4247" y="365125"/>
            <a:ext cx="699105" cy="85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1410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69E15508-9EA2-2D30-F59E-6C0C87DB13F1}"/>
              </a:ext>
            </a:extLst>
          </p:cNvPr>
          <p:cNvSpPr/>
          <p:nvPr/>
        </p:nvSpPr>
        <p:spPr>
          <a:xfrm>
            <a:off x="0" y="1003110"/>
            <a:ext cx="12192000" cy="4851779"/>
          </a:xfrm>
          <a:prstGeom prst="rect">
            <a:avLst/>
          </a:prstGeom>
          <a:solidFill>
            <a:srgbClr val="E59D4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7F32E6BC-7A3E-DE9A-8A98-8E5395F4DD0C}"/>
              </a:ext>
            </a:extLst>
          </p:cNvPr>
          <p:cNvSpPr txBox="1">
            <a:spLocks/>
          </p:cNvSpPr>
          <p:nvPr/>
        </p:nvSpPr>
        <p:spPr>
          <a:xfrm>
            <a:off x="291548" y="3055902"/>
            <a:ext cx="4143292" cy="74619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r>
              <a:rPr lang="es-CO" sz="3600" b="1" dirty="0">
                <a:solidFill>
                  <a:schemeClr val="bg1"/>
                </a:solidFill>
              </a:rPr>
              <a:t>Conclusiones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E0C5DEE-BC32-CD28-B38B-733F5888176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013"/>
          <a:stretch/>
        </p:blipFill>
        <p:spPr>
          <a:xfrm>
            <a:off x="4991310" y="6261739"/>
            <a:ext cx="2209380" cy="160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5494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917312-ED07-B34B-B5E4-05A05E35C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11507"/>
            <a:ext cx="9618406" cy="564079"/>
          </a:xfrm>
        </p:spPr>
        <p:txBody>
          <a:bodyPr>
            <a:normAutofit/>
          </a:bodyPr>
          <a:lstStyle/>
          <a:p>
            <a:r>
              <a:rPr lang="es-MX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Conclusiones Estratégicas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8F9FCC0-DD21-51A2-FBE5-368D698142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6280" y="1356355"/>
            <a:ext cx="11125200" cy="3611885"/>
          </a:xfrm>
        </p:spPr>
        <p:txBody>
          <a:bodyPr>
            <a:normAutofit fontScale="92500" lnSpcReduction="10000"/>
          </a:bodyPr>
          <a:lstStyle/>
          <a:p>
            <a:pPr marL="342900" indent="-342900" algn="just">
              <a:lnSpc>
                <a:spcPct val="110000"/>
              </a:lnSpc>
              <a:buFont typeface="+mj-lt"/>
              <a:buAutoNum type="arabicPeriod"/>
            </a:pPr>
            <a:r>
              <a:rPr lang="es-E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Optimización del Ciclo de Análisis: </a:t>
            </a:r>
            <a:r>
              <a:rPr lang="es-E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 logró transformar una revisión manual de más de 400 páginas en un flujo automatizado que prioriza los cambios técnicos críticos, reduciendo los tiempos de acción institucional.</a:t>
            </a:r>
          </a:p>
          <a:p>
            <a:pPr marL="342900" indent="-342900" algn="just">
              <a:lnSpc>
                <a:spcPct val="110000"/>
              </a:lnSpc>
              <a:buFont typeface="+mj-lt"/>
              <a:buAutoNum type="arabicPeriod"/>
            </a:pPr>
            <a:r>
              <a:rPr lang="es-E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Fidelidad Regulatoria: </a:t>
            </a:r>
            <a:r>
              <a:rPr lang="es-E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 integración de IA permitió una interpretación precisa de los resultados de la CMR-23, identificando de manera inmediata nuevas fronteras tecnológicas como la meteorología espacial y la evolución de las IMT en bandas clave.</a:t>
            </a:r>
          </a:p>
          <a:p>
            <a:pPr marL="342900" indent="-342900" algn="just">
              <a:lnSpc>
                <a:spcPct val="110000"/>
              </a:lnSpc>
              <a:buFont typeface="+mj-lt"/>
              <a:buAutoNum type="arabicPeriod"/>
            </a:pPr>
            <a:r>
              <a:rPr lang="es-E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Soberanía Tecnológica: </a:t>
            </a:r>
            <a:r>
              <a:rPr lang="es-E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El desarrollo de scripts propios permite a la ANE realizar comparaciones de tratados internacionales sin dependencia exclusiva de licencias comerciales costosas, manteniendo el control total sobre la seguridad de los datos.</a:t>
            </a:r>
          </a:p>
          <a:p>
            <a:pPr marL="342900" indent="-342900" algn="just">
              <a:lnSpc>
                <a:spcPct val="110000"/>
              </a:lnSpc>
              <a:buFont typeface="+mj-lt"/>
              <a:buAutoNum type="arabicPeriod"/>
            </a:pPr>
            <a:r>
              <a:rPr lang="es-E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Alineación Global</a:t>
            </a:r>
            <a:r>
              <a:rPr lang="es-E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 El proyecto garantiza que Colombia esté preparada para la entrada en vigor del RR-2024 el 1 de enero de 2025, asegurando que el CNABF sea un instrumento dinámico y armonizado con el estándar global.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59D7563-2B62-4FDA-6B51-F83A0A3D0EC7}"/>
              </a:ext>
            </a:extLst>
          </p:cNvPr>
          <p:cNvSpPr/>
          <p:nvPr/>
        </p:nvSpPr>
        <p:spPr>
          <a:xfrm>
            <a:off x="0" y="6666492"/>
            <a:ext cx="12192000" cy="191508"/>
          </a:xfrm>
          <a:prstGeom prst="rect">
            <a:avLst/>
          </a:prstGeom>
          <a:solidFill>
            <a:srgbClr val="E59D4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163BB6B-791E-AA3D-14EA-0396E90047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4247" y="365125"/>
            <a:ext cx="699105" cy="85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1018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69E15508-9EA2-2D30-F59E-6C0C87DB13F1}"/>
              </a:ext>
            </a:extLst>
          </p:cNvPr>
          <p:cNvSpPr/>
          <p:nvPr/>
        </p:nvSpPr>
        <p:spPr>
          <a:xfrm>
            <a:off x="0" y="1003110"/>
            <a:ext cx="12192000" cy="4851779"/>
          </a:xfrm>
          <a:prstGeom prst="rect">
            <a:avLst/>
          </a:prstGeom>
          <a:solidFill>
            <a:srgbClr val="E59D4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7F32E6BC-7A3E-DE9A-8A98-8E5395F4DD0C}"/>
              </a:ext>
            </a:extLst>
          </p:cNvPr>
          <p:cNvSpPr txBox="1">
            <a:spLocks/>
          </p:cNvSpPr>
          <p:nvPr/>
        </p:nvSpPr>
        <p:spPr>
          <a:xfrm>
            <a:off x="291548" y="3055902"/>
            <a:ext cx="6909142" cy="74619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r>
              <a:rPr lang="es-CO" sz="3600" b="1" dirty="0">
                <a:solidFill>
                  <a:schemeClr val="bg1"/>
                </a:solidFill>
              </a:rPr>
              <a:t>Espacio para preguntas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E0C5DEE-BC32-CD28-B38B-733F5888176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013"/>
          <a:stretch/>
        </p:blipFill>
        <p:spPr>
          <a:xfrm>
            <a:off x="4991310" y="6261739"/>
            <a:ext cx="2209380" cy="160233"/>
          </a:xfrm>
          <a:prstGeom prst="rect">
            <a:avLst/>
          </a:prstGeom>
        </p:spPr>
      </p:pic>
      <p:pic>
        <p:nvPicPr>
          <p:cNvPr id="2050" name="Picture 2" descr="Preguntas - Iconos gratis de personas">
            <a:extLst>
              <a:ext uri="{FF2B5EF4-FFF2-40B4-BE49-F238E27FC236}">
                <a16:creationId xmlns:a16="http://schemas.microsoft.com/office/drawing/2014/main" id="{4E4D85F7-4D4D-4970-9645-F04269D490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1560" y="1767839"/>
            <a:ext cx="2944049" cy="2944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03507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A4F7A18-E08D-3C7E-2BA0-D9BB548A0D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2478" y="2262688"/>
            <a:ext cx="1686605" cy="2067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28633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c2fae7f-0281-4bd1-88f9-75653831fe4e" xsi:nil="true"/>
    <HoraModificado xmlns="4c7b835c-282f-4db6-9e5a-cf0e5e7c8733">2024-06-28T21:15:39+00:00</HoraModificado>
    <lcf76f155ced4ddcb4097134ff3c332f xmlns="4c7b835c-282f-4db6-9e5a-cf0e5e7c8733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94F2F8A44E12D4DACCC2DF6296D639E" ma:contentTypeVersion="16" ma:contentTypeDescription="Crear nuevo documento." ma:contentTypeScope="" ma:versionID="0033e6b29b47f3bf9844859753b57805">
  <xsd:schema xmlns:xsd="http://www.w3.org/2001/XMLSchema" xmlns:xs="http://www.w3.org/2001/XMLSchema" xmlns:p="http://schemas.microsoft.com/office/2006/metadata/properties" xmlns:ns2="4c7b835c-282f-4db6-9e5a-cf0e5e7c8733" xmlns:ns3="1c2fae7f-0281-4bd1-88f9-75653831fe4e" targetNamespace="http://schemas.microsoft.com/office/2006/metadata/properties" ma:root="true" ma:fieldsID="cf56d7738ceb25496b4ab77dc26086be" ns2:_="" ns3:_="">
    <xsd:import namespace="4c7b835c-282f-4db6-9e5a-cf0e5e7c8733"/>
    <xsd:import namespace="1c2fae7f-0281-4bd1-88f9-75653831fe4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HoraModificado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7b835c-282f-4db6-9e5a-cf0e5e7c873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HoraModificado" ma:index="18" nillable="true" ma:displayName="Hora Modificado" ma:default="[today]" ma:format="DateTime" ma:internalName="HoraModificado">
      <xsd:simpleType>
        <xsd:restriction base="dms:DateTime"/>
      </xsd:simpleType>
    </xsd:element>
    <xsd:element name="lcf76f155ced4ddcb4097134ff3c332f" ma:index="20" nillable="true" ma:taxonomy="true" ma:internalName="lcf76f155ced4ddcb4097134ff3c332f" ma:taxonomyFieldName="MediaServiceImageTags" ma:displayName="Etiquetas de imagen" ma:readOnly="false" ma:fieldId="{5cf76f15-5ced-4ddc-b409-7134ff3c332f}" ma:taxonomyMulti="true" ma:sspId="131a7018-8169-4f7c-b91c-e2150692b43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2fae7f-0281-4bd1-88f9-75653831fe4e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d89a0176-e5fb-4378-b3fd-6eb13d6d9d2a}" ma:internalName="TaxCatchAll" ma:showField="CatchAllData" ma:web="1c2fae7f-0281-4bd1-88f9-75653831fe4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D7E44D3-6AB5-4FD1-8B27-A2C8AE5FC34D}">
  <ds:schemaRefs>
    <ds:schemaRef ds:uri="http://schemas.microsoft.com/office/2006/metadata/properties"/>
    <ds:schemaRef ds:uri="http://schemas.microsoft.com/office/infopath/2007/PartnerControls"/>
    <ds:schemaRef ds:uri="1c2fae7f-0281-4bd1-88f9-75653831fe4e"/>
    <ds:schemaRef ds:uri="4c7b835c-282f-4db6-9e5a-cf0e5e7c8733"/>
  </ds:schemaRefs>
</ds:datastoreItem>
</file>

<file path=customXml/itemProps2.xml><?xml version="1.0" encoding="utf-8"?>
<ds:datastoreItem xmlns:ds="http://schemas.openxmlformats.org/officeDocument/2006/customXml" ds:itemID="{52CFA6FB-66C6-41E2-AE0D-782DB68CDBC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CE6F12E-1A62-4617-BA76-5A8C8F7BE12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c7b835c-282f-4db6-9e5a-cf0e5e7c8733"/>
    <ds:schemaRef ds:uri="1c2fae7f-0281-4bd1-88f9-75653831fe4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448</Words>
  <Application>Microsoft Office PowerPoint</Application>
  <PresentationFormat>Panorámica</PresentationFormat>
  <Paragraphs>35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Verdana</vt:lpstr>
      <vt:lpstr>Tema de Office</vt:lpstr>
      <vt:lpstr>Presentación de PowerPoint</vt:lpstr>
      <vt:lpstr>Presentación de PowerPoint</vt:lpstr>
      <vt:lpstr>Presentación de PowerPoint</vt:lpstr>
      <vt:lpstr>Recursos</vt:lpstr>
      <vt:lpstr>Metodología</vt:lpstr>
      <vt:lpstr>Presentación de PowerPoint</vt:lpstr>
      <vt:lpstr>Draftable</vt:lpstr>
      <vt:lpstr>Draftable - Resultados</vt:lpstr>
      <vt:lpstr>Limpieza de los cambios</vt:lpstr>
      <vt:lpstr>Implementación de la IA</vt:lpstr>
      <vt:lpstr>Presentación de PowerPoint</vt:lpstr>
      <vt:lpstr>Productos entregables</vt:lpstr>
      <vt:lpstr>Presentación de PowerPoint</vt:lpstr>
      <vt:lpstr>Conclusiones Estratégicas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Juan Andres Guarin Mahecha</dc:creator>
  <cp:lastModifiedBy>Daniel Felipe Rambaut Lemus</cp:lastModifiedBy>
  <cp:revision>15</cp:revision>
  <dcterms:created xsi:type="dcterms:W3CDTF">2024-06-25T17:21:42Z</dcterms:created>
  <dcterms:modified xsi:type="dcterms:W3CDTF">2026-03-12T22:08:35Z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0x010100094F2F8A44E12D4DACCC2DF6296D639E</vt:lpwstr>
  </property>
</Properties>
</file>